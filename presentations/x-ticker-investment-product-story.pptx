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731520"/>
            <a:ext cx="2743200" cy="2743200"/>
          </a:xfrm>
          <a:prstGeom prst="ellipse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029200"/>
            <a:ext cx="2377440" cy="2377440"/>
          </a:xfrm>
          <a:prstGeom prst="ellipse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212080"/>
            <a:ext cx="2011680" cy="2011680"/>
          </a:xfrm>
          <a:prstGeom prst="ellipse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FE5D1"/>
                </a:solidFill>
                <a:latin typeface="Avenir Next"/>
              </a:rPr>
              <a:t>X TICKER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6766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venir Next"/>
              </a:rPr>
              <a:t>Research-first investment decisions from social signal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486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FE5D1"/>
                </a:solidFill>
                <a:latin typeface="Palatino Linotype"/>
              </a:rPr>
              <a:t>A local-first operator desk that turns curated X posts into explainable BUY / HOLD / SELL candidates, then forces research and approval before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58768"/>
            <a:ext cx="2018995" cy="310896"/>
          </a:xfrm>
          <a:prstGeom prst="round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venir Next"/>
              </a:rPr>
              <a:t>Bounded agentic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3858768"/>
            <a:ext cx="1953158" cy="310896"/>
          </a:xfrm>
          <a:prstGeom prst="roundRect">
            <a:avLst/>
          </a:prstGeom>
          <a:solidFill>
            <a:srgbClr val="D4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venir Next"/>
              </a:rPr>
              <a:t>Human approval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0368" y="3858768"/>
            <a:ext cx="2018995" cy="310896"/>
          </a:xfrm>
          <a:prstGeom prst="roundRect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venir Next"/>
              </a:rPr>
              <a:t>Replayable local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822960"/>
            <a:ext cx="361188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venir Next"/>
              </a:rPr>
              <a:t>Current repo snapshot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2743200" cy="91440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2743200" cy="73152"/>
          </a:xfrm>
          <a:prstGeom prst="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8105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506D"/>
                </a:solidFill>
                <a:latin typeface="Avenir Next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32257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Monitored 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33472"/>
            <a:ext cx="2743200" cy="91440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633472"/>
            <a:ext cx="2743200" cy="73152"/>
          </a:xfrm>
          <a:prstGeom prst="rect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79806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8B6F"/>
                </a:solidFill>
                <a:latin typeface="Avenir Next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10128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Core assets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621024"/>
            <a:ext cx="2743200" cy="91440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621024"/>
            <a:ext cx="2743200" cy="73152"/>
          </a:xfrm>
          <a:prstGeom prst="rect">
            <a:avLst/>
          </a:prstGeom>
          <a:solidFill>
            <a:srgbClr val="D4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3785615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8C14"/>
                </a:solidFill>
                <a:latin typeface="Avenir Next"/>
              </a:rP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297680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Pipeline runs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608576"/>
            <a:ext cx="2743200" cy="91440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608576"/>
            <a:ext cx="2743200" cy="73152"/>
          </a:xfrm>
          <a:prstGeom prst="rect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47731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7473A"/>
                </a:solidFill>
                <a:latin typeface="Avenir Next"/>
              </a:rPr>
              <a:t>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5285232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Eval 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48640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EFE5D1"/>
                </a:solidFill>
                <a:latin typeface="Palatino Linotype"/>
              </a:rPr>
              <a:t>Focused on AI and tech signals with a multi-day decision horizon.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EFE5D1"/>
                </a:solidFill>
                <a:latin typeface="Avenir Next"/>
              </a:rPr>
              <a:t>Sources: README.md, PRD.txt, src/data.js, data/x-ticker.sqlite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548640"/>
            <a:ext cx="2926080" cy="2926080"/>
          </a:xfrm>
          <a:prstGeom prst="ellipse">
            <a:avLst/>
          </a:prstGeom>
          <a:solidFill>
            <a:srgbClr val="DC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120640"/>
            <a:ext cx="2286000" cy="2286000"/>
          </a:xfrm>
          <a:prstGeom prst="ellipse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394960"/>
            <a:ext cx="1828800" cy="1828800"/>
          </a:xfrm>
          <a:prstGeom prst="ellipse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C506D"/>
                </a:solidFill>
                <a:latin typeface="Avenir Next"/>
              </a:rPr>
              <a:t>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6217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2433"/>
                </a:solidFill>
                <a:latin typeface="Avenir Next"/>
              </a:rPr>
              <a:t>Why this product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5D6678"/>
                </a:solidFill>
                <a:latin typeface="Palatino Linotype"/>
              </a:rPr>
              <a:t>The product replaces fragmented feed reading with a governed research workflow that improves speed, consistency, and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520440" cy="155448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109728" cy="1554480"/>
          </a:xfrm>
          <a:prstGeom prst="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3136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2433"/>
                </a:solidFill>
                <a:latin typeface="Avenir Next"/>
              </a:rPr>
              <a:t>Signal overload becomes narrative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70048"/>
            <a:ext cx="3108960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5D6678"/>
                </a:solidFill>
                <a:latin typeface="Palatino Linotype"/>
              </a:rPr>
              <a:t>140 persisted posts already sit behind the product's runtime.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5D6678"/>
                </a:solidFill>
                <a:latin typeface="Palatino Linotype"/>
              </a:rPr>
              <a:t>Repeated posts are clustered into narratives instead of being treated as isolated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011680"/>
            <a:ext cx="3520440" cy="155448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011680"/>
            <a:ext cx="109728" cy="1554480"/>
          </a:xfrm>
          <a:prstGeom prst="rect">
            <a:avLst/>
          </a:prstGeom>
          <a:solidFill>
            <a:srgbClr val="D4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76272"/>
            <a:ext cx="3136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2433"/>
                </a:solidFill>
                <a:latin typeface="Avenir Next"/>
              </a:rPr>
              <a:t>Decision quality is forced upstream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70048"/>
            <a:ext cx="3108960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5D6678"/>
                </a:solidFill>
                <a:latin typeface="Palatino Linotype"/>
              </a:rPr>
              <a:t>Research dossiers need evidence, contradictions, citations, and operator validation before approval.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5D6678"/>
                </a:solidFill>
                <a:latin typeface="Palatino Linotype"/>
              </a:rPr>
              <a:t>That lowers the odds of acting on hype, rumor, or partial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2011680"/>
            <a:ext cx="3520440" cy="155448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2011680"/>
            <a:ext cx="109728" cy="1554480"/>
          </a:xfrm>
          <a:prstGeom prst="rect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176272"/>
            <a:ext cx="3136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2433"/>
                </a:solidFill>
                <a:latin typeface="Avenir Next"/>
              </a:rPr>
              <a:t>Coverage becomes personal and scalable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670048"/>
            <a:ext cx="3108960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5D6678"/>
                </a:solidFill>
                <a:latin typeface="Palatino Linotype"/>
              </a:rPr>
              <a:t>The watched universe blends curated assets with holdings and watchlist names.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5D6678"/>
                </a:solidFill>
                <a:latin typeface="Palatino Linotype"/>
              </a:rPr>
              <a:t>One operator gets broader monitoring without turning the system into an autonomous trader.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506D"/>
                </a:solidFill>
                <a:latin typeface="Avenir Next"/>
              </a:rPr>
              <a:t>Value chain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80560"/>
            <a:ext cx="1645920" cy="621792"/>
          </a:xfrm>
          <a:prstGeom prst="round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Capture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4480560"/>
            <a:ext cx="1645920" cy="621792"/>
          </a:xfrm>
          <a:prstGeom prst="roundRect">
            <a:avLst/>
          </a:prstGeom>
          <a:solidFill>
            <a:srgbClr val="D4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Validate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480560"/>
            <a:ext cx="1645920" cy="621792"/>
          </a:xfrm>
          <a:prstGeom prst="roundRect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Approve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480560"/>
            <a:ext cx="1645920" cy="621792"/>
          </a:xfrm>
          <a:prstGeom prst="roundRect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D2433"/>
                </a:solidFill>
                <a:latin typeface="Palatino Linotype"/>
              </a:rPr>
              <a:t>Net effect: faster interpretation, fewer premature calls, and a reusable audit trail that compounds operator knowledge over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D6678"/>
                </a:solidFill>
                <a:latin typeface="Avenir Next"/>
              </a:rPr>
              <a:t>Sources: README.md, PRD.txt, src/researchStore.js, src/decisionReviewStore.js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548640"/>
            <a:ext cx="2926080" cy="2926080"/>
          </a:xfrm>
          <a:prstGeom prst="ellipse">
            <a:avLst/>
          </a:prstGeom>
          <a:solidFill>
            <a:srgbClr val="DC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120640"/>
            <a:ext cx="2286000" cy="2286000"/>
          </a:xfrm>
          <a:prstGeom prst="ellipse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394960"/>
            <a:ext cx="1828800" cy="1828800"/>
          </a:xfrm>
          <a:prstGeom prst="ellipse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C506D"/>
                </a:solidFill>
                <a:latin typeface="Avenir Next"/>
              </a:rPr>
              <a:t>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6949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2433"/>
                </a:solidFill>
                <a:latin typeface="Avenir Next"/>
              </a:rPr>
              <a:t>Operating leverage is already visible in the 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737360" cy="1078992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737360" cy="73152"/>
          </a:xfrm>
          <a:prstGeom prst="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764792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506D"/>
                </a:solidFill>
                <a:latin typeface="Avenir Next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276856"/>
            <a:ext cx="1463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persisted pipeline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1600200"/>
            <a:ext cx="1737360" cy="1078992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2032" y="1600200"/>
            <a:ext cx="1737360" cy="73152"/>
          </a:xfrm>
          <a:prstGeom prst="rect">
            <a:avLst/>
          </a:prstGeom>
          <a:solidFill>
            <a:srgbClr val="D4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764792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8C14"/>
                </a:solidFill>
                <a:latin typeface="Avenir Next"/>
              </a:rPr>
              <a:t>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2276856"/>
            <a:ext cx="1463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eval runs logged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3984" y="1600200"/>
            <a:ext cx="1737360" cy="1078992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3984" y="1600200"/>
            <a:ext cx="1737360" cy="73152"/>
          </a:xfrm>
          <a:prstGeom prst="rect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1764792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8B6F"/>
                </a:solidFill>
                <a:latin typeface="Avenir Next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276856"/>
            <a:ext cx="1463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decision reviews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600200"/>
            <a:ext cx="1737360" cy="1078992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600200"/>
            <a:ext cx="1737360" cy="73152"/>
          </a:xfrm>
          <a:prstGeom prst="rect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764792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7473A"/>
                </a:solidFill>
                <a:latin typeface="Avenir Next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276856"/>
            <a:ext cx="1463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runtime 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1600200"/>
            <a:ext cx="1737360" cy="1078992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7888" y="1600200"/>
            <a:ext cx="1737360" cy="73152"/>
          </a:xfrm>
          <a:prstGeom prst="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764792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506D"/>
                </a:solidFill>
                <a:latin typeface="Avenir Next"/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76856"/>
            <a:ext cx="1463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notifications 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971800"/>
            <a:ext cx="51663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1D2433"/>
                </a:solidFill>
                <a:latin typeface="Palatino Linotype"/>
              </a:rPr>
              <a:t>- 10 proposals and 1 approved review already show the approval queue working as intended.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D2433"/>
                </a:solidFill>
                <a:latin typeface="Palatino Linotype"/>
              </a:rPr>
              <a:t>- The scheduler, digest, and notification layer reduce the time spent checking whether anything important changed.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D2433"/>
                </a:solidFill>
                <a:latin typeface="Palatino Linotype"/>
              </a:rPr>
              <a:t>- Replayable runs make debugging, postmortems, and operator trust easier than black-box automation.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880360"/>
            <a:ext cx="5166360" cy="2651760"/>
          </a:xfrm>
          <a:prstGeom prst="roundRect">
            <a:avLst/>
          </a:prstGeom>
          <a:solidFill>
            <a:srgbClr val="102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154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venir Next"/>
              </a:rPr>
              <a:t>Why this matters commercially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79476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FE5D1"/>
                </a:solidFill>
                <a:latin typeface="Palatino Linotype"/>
              </a:rPr>
              <a:t>- This is leverage through bounded automation, not autonomy.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FE5D1"/>
                </a:solidFill>
                <a:latin typeface="Palatino Linotype"/>
              </a:rPr>
              <a:t>- The product saves operator time while increasing explainability and lowering governance risk.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FE5D1"/>
                </a:solidFill>
                <a:latin typeface="Palatino Linotype"/>
              </a:rPr>
              <a:t>- That combination is the basis for premium decision-support positioning.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D6678"/>
                </a:solidFill>
                <a:latin typeface="Avenir Next"/>
              </a:rPr>
              <a:t>Sources: data/x-ticker.sqlite, src/pipelineRunner.js, src/orchestrator.js, src/reportBuilder.js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731520"/>
            <a:ext cx="2743200" cy="2743200"/>
          </a:xfrm>
          <a:prstGeom prst="ellipse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029200"/>
            <a:ext cx="2377440" cy="2377440"/>
          </a:xfrm>
          <a:prstGeom prst="ellipse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212080"/>
            <a:ext cx="2011680" cy="2011680"/>
          </a:xfrm>
          <a:prstGeom prst="ellipse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FE5D1"/>
                </a:solidFill>
                <a:latin typeface="Avenir Next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venir Next"/>
              </a:rPr>
              <a:t>The AI agentic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>
                <a:solidFill>
                  <a:srgbClr val="EFE5D1"/>
                </a:solidFill>
                <a:latin typeface="Palatino Linotype"/>
              </a:rPr>
              <a:t>Specialist model steps interpret messy inputs, but deterministic rules, research gates, and operator review decide what becomes action-ready.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005840"/>
            <a:ext cx="36576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0" y="1554480"/>
            <a:ext cx="566928" cy="566928"/>
          </a:xfrm>
          <a:prstGeom prst="ellipse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2704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venir Next"/>
              </a:rPr>
              <a:t>Interpret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2560320"/>
            <a:ext cx="566928" cy="566928"/>
          </a:xfrm>
          <a:prstGeom prst="ellipse">
            <a:avLst/>
          </a:prstGeom>
          <a:solidFill>
            <a:srgbClr val="D4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3288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venir Next"/>
              </a:rPr>
              <a:t>Constrain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3566160"/>
            <a:ext cx="566928" cy="566928"/>
          </a:xfrm>
          <a:prstGeom prst="ellipse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53872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venir Next"/>
              </a:rPr>
              <a:t>Approve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EFE5D1"/>
                </a:solidFill>
                <a:latin typeface="Avenir Next"/>
              </a:rPr>
              <a:t>Sources: README.md, PRD.txt, src/pipelineRunner.js, src/modelClaimExtractor.js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548640"/>
            <a:ext cx="2926080" cy="2926080"/>
          </a:xfrm>
          <a:prstGeom prst="ellipse">
            <a:avLst/>
          </a:prstGeom>
          <a:solidFill>
            <a:srgbClr val="DC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120640"/>
            <a:ext cx="2286000" cy="2286000"/>
          </a:xfrm>
          <a:prstGeom prst="ellipse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394960"/>
            <a:ext cx="1828800" cy="1828800"/>
          </a:xfrm>
          <a:prstGeom prst="ellipse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C506D"/>
                </a:solidFill>
                <a:latin typeface="Avenir Next"/>
              </a:rPr>
              <a:t>AI AGENTIC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5943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2433"/>
                </a:solidFill>
                <a:latin typeface="Avenir Next"/>
              </a:rPr>
              <a:t>Bounded architecture from signal to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1536192" cy="658368"/>
          </a:xfrm>
          <a:prstGeom prst="round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Curated X +</a:t>
            </a:r>
            <a:br/>
            <a:r>
              <a:t>manual intake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5728" y="1600200"/>
            <a:ext cx="1417320" cy="658368"/>
          </a:xfrm>
          <a:prstGeom prst="roundRect">
            <a:avLst/>
          </a:prstGeom>
          <a:solidFill>
            <a:srgbClr val="D4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Ingestion +</a:t>
            </a:r>
            <a:br/>
            <a:r>
              <a:t>normalization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600200"/>
            <a:ext cx="1536192" cy="658368"/>
          </a:xfrm>
          <a:prstGeom prst="roundRect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Claim extraction</a:t>
            </a:r>
            <a:br/>
            <a:r>
              <a:t>(OpenAI or fallback)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1600200"/>
            <a:ext cx="1371600" cy="658368"/>
          </a:xfrm>
          <a:prstGeom prst="round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Narrative</a:t>
            </a:r>
            <a:br/>
            <a:r>
              <a:t>clustering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1600200"/>
            <a:ext cx="1609344" cy="658368"/>
          </a:xfrm>
          <a:prstGeom prst="roundRect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Policy + veto</a:t>
            </a:r>
            <a:br/>
            <a:r>
              <a:t>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600200"/>
            <a:ext cx="1417320" cy="658368"/>
          </a:xfrm>
          <a:prstGeom prst="roundRect">
            <a:avLst/>
          </a:prstGeom>
          <a:solidFill>
            <a:srgbClr val="D4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Decision</a:t>
            </a:r>
            <a:br/>
            <a:r>
              <a:t>math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1929384"/>
            <a:ext cx="201168" cy="0"/>
          </a:xfrm>
          <a:prstGeom prst="line">
            <a:avLst/>
          </a:prstGeom>
          <a:ln w="27940">
            <a:solidFill>
              <a:srgbClr val="5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13048" y="1929384"/>
            <a:ext cx="164591" cy="0"/>
          </a:xfrm>
          <a:prstGeom prst="line">
            <a:avLst/>
          </a:prstGeom>
          <a:ln w="27940">
            <a:solidFill>
              <a:srgbClr val="5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13831" y="1929384"/>
            <a:ext cx="173737" cy="0"/>
          </a:xfrm>
          <a:prstGeom prst="line">
            <a:avLst/>
          </a:prstGeom>
          <a:ln w="27940">
            <a:solidFill>
              <a:srgbClr val="5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59168" y="1929384"/>
            <a:ext cx="182880" cy="0"/>
          </a:xfrm>
          <a:prstGeom prst="line">
            <a:avLst/>
          </a:prstGeom>
          <a:ln w="27940">
            <a:solidFill>
              <a:srgbClr val="5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851392" y="1929384"/>
            <a:ext cx="182880" cy="0"/>
          </a:xfrm>
          <a:prstGeom prst="line">
            <a:avLst/>
          </a:prstGeom>
          <a:ln w="27940">
            <a:solidFill>
              <a:srgbClr val="5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28800" y="3246120"/>
            <a:ext cx="1920240" cy="713232"/>
          </a:xfrm>
          <a:prstGeom prst="roundRect">
            <a:avLst/>
          </a:prstGeom>
          <a:solidFill>
            <a:srgbClr val="DC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0222F"/>
                </a:solidFill>
                <a:latin typeface="Avenir Next"/>
              </a:rPr>
              <a:t>Research dossier</a:t>
            </a:r>
            <a:br/>
            <a:r>
              <a:t>validated?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246120"/>
            <a:ext cx="1920240" cy="713232"/>
          </a:xfrm>
          <a:prstGeom prst="roundRect">
            <a:avLst/>
          </a:prstGeom>
          <a:solidFill>
            <a:srgbClr val="DC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0222F"/>
                </a:solidFill>
                <a:latin typeface="Avenir Next"/>
              </a:rPr>
              <a:t>Approval queue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246120"/>
            <a:ext cx="2286000" cy="713232"/>
          </a:xfrm>
          <a:prstGeom prst="roundRect">
            <a:avLst/>
          </a:prstGeom>
          <a:solidFill>
            <a:srgbClr val="DC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0222F"/>
                </a:solidFill>
                <a:latin typeface="Avenir Next"/>
              </a:rPr>
              <a:t>Advisor / dashboard /</a:t>
            </a:r>
            <a:br/>
            <a:r>
              <a:t>digest / history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38360" y="2258568"/>
            <a:ext cx="0" cy="987552"/>
          </a:xfrm>
          <a:prstGeom prst="line">
            <a:avLst/>
          </a:prstGeom>
          <a:ln w="27940">
            <a:solidFill>
              <a:srgbClr val="5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49039" y="3602736"/>
            <a:ext cx="822961" cy="0"/>
          </a:xfrm>
          <a:prstGeom prst="line">
            <a:avLst/>
          </a:prstGeom>
          <a:ln w="27940">
            <a:solidFill>
              <a:srgbClr val="5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92240" y="3602736"/>
            <a:ext cx="822960" cy="0"/>
          </a:xfrm>
          <a:prstGeom prst="line">
            <a:avLst/>
          </a:prstGeom>
          <a:ln w="27940">
            <a:solidFill>
              <a:srgbClr val="5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7548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D2433"/>
                </a:solidFill>
                <a:latin typeface="Palatino Linotype"/>
              </a:rPr>
              <a:t>Design principle: AI interprets and normalizes. Deterministic policy, research validation, and human approval decide whether the output deserves trust.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D6678"/>
                </a:solidFill>
                <a:latin typeface="Avenir Next"/>
              </a:rPr>
              <a:t>Sources: README.md, src/pipelineRunner.js, src/modelClaimExtractor.js, src/agenticEngine.js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548640"/>
            <a:ext cx="2926080" cy="2926080"/>
          </a:xfrm>
          <a:prstGeom prst="ellipse">
            <a:avLst/>
          </a:prstGeom>
          <a:solidFill>
            <a:srgbClr val="DC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120640"/>
            <a:ext cx="2286000" cy="2286000"/>
          </a:xfrm>
          <a:prstGeom prst="ellipse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394960"/>
            <a:ext cx="1828800" cy="1828800"/>
          </a:xfrm>
          <a:prstGeom prst="ellipse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C506D"/>
                </a:solidFill>
                <a:latin typeface="Avenir Next"/>
              </a:rPr>
              <a:t>AI AGENTIC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6035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2433"/>
                </a:solidFill>
                <a:latin typeface="Avenir Next"/>
              </a:rPr>
              <a:t>Each module has a narrow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154680" cy="173736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" cy="1737360"/>
          </a:xfrm>
          <a:prstGeom prst="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27706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2433"/>
                </a:solidFill>
                <a:latin typeface="Avenir Next"/>
              </a:rPr>
              <a:t>Claim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7432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5D6678"/>
                </a:solidFill>
                <a:latin typeface="Palatino Linotype"/>
              </a:rPr>
              <a:t>Classifies post type, direction, explicitness, actionability, and mapped assets.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54480"/>
            <a:ext cx="3154680" cy="173736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554480"/>
            <a:ext cx="109728" cy="1737360"/>
          </a:xfrm>
          <a:prstGeom prst="rect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719072"/>
            <a:ext cx="27706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2433"/>
                </a:solidFill>
                <a:latin typeface="Avenir Next"/>
              </a:rPr>
              <a:t>Impact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212848"/>
            <a:ext cx="27432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5D6678"/>
                </a:solidFill>
                <a:latin typeface="Palatino Linotype"/>
              </a:rPr>
              <a:t>Ranks likely direct, read-through, and second-order effects across the watched universe.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554480"/>
            <a:ext cx="3154680" cy="173736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1554480"/>
            <a:ext cx="109728" cy="1737360"/>
          </a:xfrm>
          <a:prstGeom prst="rect">
            <a:avLst/>
          </a:prstGeom>
          <a:solidFill>
            <a:srgbClr val="D4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1719072"/>
            <a:ext cx="27706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2433"/>
                </a:solidFill>
                <a:latin typeface="Avenir Next"/>
              </a:rPr>
              <a:t>Narrative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2212848"/>
            <a:ext cx="27432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5D6678"/>
                </a:solidFill>
                <a:latin typeface="Palatino Linotype"/>
              </a:rPr>
              <a:t>Groups repeated claims into event-like narratives so the product reasons at the right level.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3154680" cy="173736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57600"/>
            <a:ext cx="109728" cy="1737360"/>
          </a:xfrm>
          <a:prstGeom prst="rect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822191"/>
            <a:ext cx="27706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2433"/>
                </a:solidFill>
                <a:latin typeface="Avenir Next"/>
              </a:rPr>
              <a:t>Policy and veto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315968"/>
            <a:ext cx="27432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5D6678"/>
                </a:solidFill>
                <a:latin typeface="Palatino Linotype"/>
              </a:rPr>
              <a:t>Downgrades rumor, weak evidence, and noisy headlines before they contaminate the queue.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657600"/>
            <a:ext cx="3154680" cy="173736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3657600"/>
            <a:ext cx="109728" cy="1737360"/>
          </a:xfrm>
          <a:prstGeom prst="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3822191"/>
            <a:ext cx="27706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2433"/>
                </a:solidFill>
                <a:latin typeface="Avenir Next"/>
              </a:rPr>
              <a:t>Decision math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315968"/>
            <a:ext cx="27432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5D6678"/>
                </a:solidFill>
                <a:latin typeface="Palatino Linotype"/>
              </a:rPr>
              <a:t>Surfaces thesis probability, upside, downside, reward-to-risk, size band, and max-loss guardrail.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657600"/>
            <a:ext cx="3154680" cy="173736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3657600"/>
            <a:ext cx="109728" cy="1737360"/>
          </a:xfrm>
          <a:prstGeom prst="rect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3822191"/>
            <a:ext cx="27706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2433"/>
                </a:solidFill>
                <a:latin typeface="Avenir Next"/>
              </a:rPr>
              <a:t>Portfolio-aware advisor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4315968"/>
            <a:ext cx="27432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5D6678"/>
                </a:solidFill>
                <a:latin typeface="Palatino Linotype"/>
              </a:rPr>
              <a:t>Answers from the latest snapshot plus saved holdings and watchlist context while respecting governance state.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D6678"/>
                </a:solidFill>
                <a:latin typeface="Avenir Next"/>
              </a:rPr>
              <a:t>Sources: src/modelClaimExtractor.js, src/modelImpactMapper.js, src/agenticEngine.js, src/financialAdvisor.js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548640"/>
            <a:ext cx="2926080" cy="2926080"/>
          </a:xfrm>
          <a:prstGeom prst="ellipse">
            <a:avLst/>
          </a:prstGeom>
          <a:solidFill>
            <a:srgbClr val="DC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120640"/>
            <a:ext cx="2286000" cy="2286000"/>
          </a:xfrm>
          <a:prstGeom prst="ellipse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394960"/>
            <a:ext cx="1828800" cy="1828800"/>
          </a:xfrm>
          <a:prstGeom prst="ellipse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C506D"/>
                </a:solidFill>
                <a:latin typeface="Avenir Next"/>
              </a:rPr>
              <a:t>AI AGENTIC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6583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2433"/>
                </a:solidFill>
                <a:latin typeface="Avenir Next"/>
              </a:rPr>
              <a:t>Governance, evals, and staged rollout keep the system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506D"/>
                </a:solidFill>
                <a:latin typeface="Avenir Next"/>
              </a:rPr>
              <a:t>Research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234440" cy="594360"/>
          </a:xfrm>
          <a:prstGeom prst="roundRect">
            <a:avLst/>
          </a:prstGeom>
          <a:solidFill>
            <a:srgbClr val="5D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Discovery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2536" y="2011680"/>
            <a:ext cx="1234440" cy="594360"/>
          </a:xfrm>
          <a:prstGeom prst="round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Candidate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2011680"/>
            <a:ext cx="1234440" cy="594360"/>
          </a:xfrm>
          <a:prstGeom prst="roundRect">
            <a:avLst/>
          </a:prstGeom>
          <a:solidFill>
            <a:srgbClr val="D4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2011680"/>
            <a:ext cx="1097280" cy="594360"/>
          </a:xfrm>
          <a:prstGeom prst="roundRect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Approved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52744" y="2011680"/>
            <a:ext cx="2148840" cy="594360"/>
          </a:xfrm>
          <a:prstGeom prst="roundRect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Dismissed / expired / archived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5760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D2433"/>
                </a:solidFill>
                <a:latin typeface="Palatino Linotype"/>
              </a:rPr>
              <a:t>- A dossier cannot be validated or approved without thesis, assets, horizon, supporting evidence, contradicting evidence, and citations.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D2433"/>
                </a:solidFill>
                <a:latin typeface="Palatino Linotype"/>
              </a:rPr>
              <a:t>- Decisions only enter the queue when linked research is validated or approved.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D2433"/>
                </a:solidFill>
                <a:latin typeface="Palatino Linotype"/>
              </a:rPr>
              <a:t>- The advisor falls back to Research more or watch-only language when governance is incomplete.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1664208"/>
            <a:ext cx="1965960" cy="105156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1664208"/>
            <a:ext cx="1965960" cy="73152"/>
          </a:xfrm>
          <a:prstGeom prst="rect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82880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506D"/>
                </a:solidFill>
                <a:latin typeface="Avenir Next"/>
              </a:rPr>
              <a:t>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2340864"/>
            <a:ext cx="1691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eval runs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64208"/>
            <a:ext cx="1965960" cy="105156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664208"/>
            <a:ext cx="1965960" cy="73152"/>
          </a:xfrm>
          <a:prstGeom prst="rect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82880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8B6F"/>
                </a:solidFill>
                <a:latin typeface="Avenir Next"/>
              </a:rPr>
              <a:t>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340864"/>
            <a:ext cx="1691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pipeline replays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2926080"/>
            <a:ext cx="1965960" cy="105156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2926080"/>
            <a:ext cx="1965960" cy="73152"/>
          </a:xfrm>
          <a:prstGeom prst="rect">
            <a:avLst/>
          </a:prstGeom>
          <a:solidFill>
            <a:srgbClr val="D4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9752" y="3090672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8C14"/>
                </a:solidFill>
                <a:latin typeface="Avenir Next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602736"/>
            <a:ext cx="1691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review 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926080"/>
            <a:ext cx="1965960" cy="1051560"/>
          </a:xfrm>
          <a:prstGeom prst="roundRect">
            <a:avLst/>
          </a:prstGeom>
          <a:solidFill>
            <a:srgbClr val="FFFAF0"/>
          </a:solidFill>
          <a:ln>
            <a:solidFill>
              <a:srgbClr val="D6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2926080"/>
            <a:ext cx="1965960" cy="73152"/>
          </a:xfrm>
          <a:prstGeom prst="rect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3090672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7473A"/>
                </a:solidFill>
                <a:latin typeface="Avenir Next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3602736"/>
            <a:ext cx="1691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678"/>
                </a:solidFill>
                <a:latin typeface="Avenir Next"/>
              </a:rPr>
              <a:t>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297680"/>
            <a:ext cx="4160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5D6678"/>
                </a:solidFill>
                <a:latin typeface="Palatino Linotype"/>
              </a:rPr>
              <a:t>- Extractor and model eval harnesses support field-level scoring, scenario tests, JSON reliability checks, and safer model changes.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5D6678"/>
                </a:solidFill>
                <a:latin typeface="Palatino Linotype"/>
              </a:rPr>
              <a:t>- Rollout stays staged: research desk first, assisted approval next, bounded production only after the eval bar is met.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D6678"/>
                </a:solidFill>
                <a:latin typeface="Avenir Next"/>
              </a:rPr>
              <a:t>Sources: README.md, docs/delta-roadmap.md, src/evalHarness.js, src/modelEvalHarness.js, src/researchStore.js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731520"/>
            <a:ext cx="2743200" cy="2743200"/>
          </a:xfrm>
          <a:prstGeom prst="ellipse">
            <a:avLst/>
          </a:prstGeom>
          <a:solidFill>
            <a:srgbClr val="0C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029200"/>
            <a:ext cx="2377440" cy="2377440"/>
          </a:xfrm>
          <a:prstGeom prst="ellipse">
            <a:avLst/>
          </a:prstGeom>
          <a:solidFill>
            <a:srgbClr val="B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212080"/>
            <a:ext cx="2011680" cy="2011680"/>
          </a:xfrm>
          <a:prstGeom prst="ellipse">
            <a:avLst/>
          </a:prstGeom>
          <a:solidFill>
            <a:srgbClr val="0F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FE5D1"/>
                </a:solidFill>
                <a:latin typeface="Avenir Next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6766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venir Next"/>
              </a:rPr>
              <a:t>The differentiator is disciplined agentic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62179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FE5D1"/>
                </a:solidFill>
                <a:latin typeface="Palatino Linotype"/>
              </a:rPr>
              <a:t>Most AI investing tools over-index on autonomy. This product wins by making interpretation faster while keeping trust, governance, and auditability in front.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FE5D1"/>
                </a:solidFill>
                <a:latin typeface="Palatino Linotype"/>
              </a:rPr>
              <a:t>That is a stronger foundation for operator adoption, premium positioning, and safe expansion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097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venir Next"/>
              </a:rPr>
              <a:t>Rollout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0020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1" y="172821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2F"/>
                </a:solidFill>
                <a:latin typeface="Avenir Next"/>
              </a:rPr>
              <a:t>Stage 1: Research desk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69748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1231" y="28254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2F"/>
                </a:solidFill>
                <a:latin typeface="Avenir Next"/>
              </a:rPr>
              <a:t>Stage 2: Assisted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79476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392277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2F"/>
                </a:solidFill>
                <a:latin typeface="Avenir Next"/>
              </a:rPr>
              <a:t>Stage 3: Bounded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EFE5D1"/>
                </a:solidFill>
                <a:latin typeface="Avenir Next"/>
              </a:rPr>
              <a:t>Sources: README.md, docs/delta-roadmap.md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